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CHHANDA (ছন্দা)</a:t>
            </a:r>
          </a:p>
          <a:p>
            <a:pPr>
              <a:spcBef>
                <a:spcPts val="1000"/>
              </a:spcBef>
              <a:defRPr sz="2400" b="1">
                <a:solidFill>
                  <a:srgbClr val="34A853"/>
                </a:solidFill>
                <a:latin typeface="Arial"/>
              </a:defRPr>
            </a:pPr>
            <a:r>
              <a:t>The On-Device Local AI Gateway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Harnessing Google's Gemma 4 and LiteRT-LM for 100% Offline, Privacy-First AI Access at Scale.</a:t>
            </a:r>
          </a:p>
          <a:p>
            <a:br/>
            <a:br/>
            <a:pPr>
              <a:spcBef>
                <a:spcPts val="20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Track: Gemma 4 Good (Global Resilience &amp; Digital Equity)</a:t>
            </a:r>
            <a:br/>
            <a:r>
              <a:t>• Stack: Kotlin, LiteRT-LM, Ktor-CIO, Room DB, Android KeyStore</a:t>
            </a:r>
            <a:br/>
            <a:r>
              <a:t>• Author: Solo-Developed by Kallol Chakraborty</a:t>
            </a:r>
            <a:br/>
            <a:r>
              <a:t>• Dedication: Dedicated to my beloved mother, Chhanda Chakraborty</a:t>
            </a:r>
          </a:p>
        </p:txBody>
      </p:sp>
      <p:pic>
        <p:nvPicPr>
          <p:cNvPr id="4" name="Picture 3" descr="chhanda_card_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THE PROBLEM &amp; THE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Rural Digital Divide &amp; On-Device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The Problem: Locked Out of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600 Million Offline: Over half of rural India &amp; Bangladesh lacks consistent internet access, rendering cloud-based AI tools completely useless.</a:t>
            </a:r>
            <a:br/>
            <a:r>
              <a:t>• Paywalls &amp; Costs: A $20/month ChatGPT subscription is prohibitive in developing economies.</a:t>
            </a:r>
            <a:br/>
            <a:r>
              <a:t>• Privacy Vulnerability: Uploading patient medical data or private village spreadsheets to overseas cloud engines creates heavy security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237744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The Vision: Chhanda &amp; Gemma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93776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100% Offline AI: Zero cloud dependence. Gemma 4B is GGUF-quantized and runs natively on the device via LiteRT-LM runtime.</a:t>
            </a:r>
            <a:br/>
            <a:r>
              <a:t>• One Phone serves 20: Built-in local HTTP server serves an entire classroom or local clinic via Wi-Fi hotspot connectivity.</a:t>
            </a:r>
            <a:br/>
            <a:r>
              <a:t>• 3-Language Accessibility: Pure native interaction in English, Hindi, and Bengali with customized multilingual Text-To-Speech locale scripting.</a:t>
            </a:r>
            <a:br/>
            <a:r>
              <a:t>• Zero Cost, Zero Latency: Full edge execution with zero data usage.</a:t>
            </a:r>
          </a:p>
        </p:txBody>
      </p:sp>
      <p:pic>
        <p:nvPicPr>
          <p:cNvPr id="11" name="Picture 10" descr="Screenshot_20260518_041024_Chh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110154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60350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A853"/>
                </a:solidFill>
                <a:latin typeface="Arial"/>
              </a:defRPr>
            </a:pPr>
            <a:r>
              <a:t>Figure: Multi-client hotspot connectivity configuration guide inside Chhanda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MULTI-CLIENT GATEWAY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Embedded Ktor-CIO Server: One Phone → 20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66344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Collaborative Offline Server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Local OpenAI Endpoint: Embedded Ktor-CIO HTTP server exposes a standard `/v1/chat/completions` API on the local LAN.</a:t>
            </a:r>
            <a:br/>
            <a:r>
              <a:t>• Zero-Install Web Client: Students connect to the host hotspot, scan a QR code, and open a beautiful, responsive web portal on any browser to chat with Gemma.</a:t>
            </a:r>
            <a:br/>
            <a:r>
              <a:t>• IDE &amp; Code Copilot Integration: Software developers in offline areas configure VS Code / Continue to point to port 8888 on the phone for full-fledged code completion.</a:t>
            </a:r>
            <a:br/>
            <a:r>
              <a:t>• Extreme Concurrency Guard: A native Semaphore system locks concurrent inference to 2 parallel tasks, with a leaky-bucket rate limiter per IP, ensuring a 100% crash-free server.</a:t>
            </a:r>
          </a:p>
        </p:txBody>
      </p:sp>
      <p:pic>
        <p:nvPicPr>
          <p:cNvPr id="8" name="Picture 7" descr="Screenshot_20260518_040401_Chh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025748" cy="4389120"/>
          </a:xfrm>
          <a:prstGeom prst="rect">
            <a:avLst/>
          </a:prstGeom>
        </p:spPr>
      </p:pic>
      <p:pic>
        <p:nvPicPr>
          <p:cNvPr id="9" name="Picture 8" descr="Screenshot_20260518_044400_Web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828800"/>
            <a:ext cx="3017520" cy="6560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285F4"/>
                </a:solidFill>
                <a:latin typeface="Arial"/>
              </a:defRPr>
            </a:pPr>
            <a:r>
              <a:t>Left: Active local Ktor Server running on device | Right: Responsive Multi-client Web Chat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KNOWLEDGE RETRIEVAL &amp; VECTOR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Native Document Ingestion &amp; High-Performance Vector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66344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100% Private Knowledge 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Rich Document Support: Zero-cloud offline ingestion of PDF, Word (.docx), Excel (.xlsx), CSV, TSV, HTML, Markdown, JSON, and Images via on-device ML Kit OCR.</a:t>
            </a:r>
            <a:br/>
            <a:r>
              <a:t>• Int8 Embedding Quantization: Compress high-dimensional Float32 vector embeddings into Int8 space. Reduces database size and memory consumption by 75% (4B/dim → 1B/dim) with negligible accuracy loss.</a:t>
            </a:r>
            <a:br/>
            <a:r>
              <a:t>• Min-Heap Top-K Search: Implemented native O(N log K) retrieval sorting in Kotlin rather than expensive O(N log N) library arrays, providing 3x faster local search recall.</a:t>
            </a:r>
            <a:br/>
            <a:r>
              <a:t>• Pronoun-Aware Context Expansion: Dynamically parses follow-up questions containing pronouns and merges them with previous conversation history to guarantee relevant retrieval results.</a:t>
            </a:r>
          </a:p>
        </p:txBody>
      </p:sp>
      <p:pic>
        <p:nvPicPr>
          <p:cNvPr id="8" name="Picture 7" descr="Screenshot_20260518_041133_Chh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025748" cy="4389120"/>
          </a:xfrm>
          <a:prstGeom prst="rect">
            <a:avLst/>
          </a:prstGeom>
        </p:spPr>
      </p:pic>
      <p:pic>
        <p:nvPicPr>
          <p:cNvPr id="9" name="Picture 8" descr="Screenshot_20260518_041202_Chhan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025748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34A853"/>
                </a:solidFill>
                <a:latin typeface="Arial"/>
              </a:defRPr>
            </a:pPr>
            <a:r>
              <a:t>Left: Offline Ingestion control dashboard | Right: Active Vector storage &amp; RAG recall health trackers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TRUSTED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Defense-In-Depth Security &amp; Android TEE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66344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Enterprise-Grade Threat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3-Layer Prompt Injection Shield: A solid filter guarding the local model input context. Blocks system-prompt escape attempts using strict keyword matching, regex rules, and logical structural delimiters (`[USER_INPUT_START/END]`).</a:t>
            </a:r>
            <a:br/>
            <a:r>
              <a:t>• TEE-Backed Cryptography: Hugging Face read-only download tokens and network access keys are encrypted via Android's hardware keystore in the Trusted Execution Environment (TEE) / Secure Element (SE).</a:t>
            </a:r>
            <a:br/>
            <a:r>
              <a:t>• PII Redaction &amp; Local Audits: Local filters automatically strip and redact emails, phone numbers, and names prior to passing inputs to the LLM.</a:t>
            </a:r>
            <a:br/>
            <a:r>
              <a:t>• Secure Biometric Shielding: Complete gate lock protecting server controls behind biometric authentication.</a:t>
            </a:r>
          </a:p>
        </p:txBody>
      </p:sp>
      <p:pic>
        <p:nvPicPr>
          <p:cNvPr id="8" name="Picture 7" descr="Screenshot_20260518_041332_Chh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025748" cy="4389120"/>
          </a:xfrm>
          <a:prstGeom prst="rect">
            <a:avLst/>
          </a:prstGeom>
        </p:spPr>
      </p:pic>
      <p:pic>
        <p:nvPicPr>
          <p:cNvPr id="9" name="Picture 8" descr="Screenshot_20260518_041045_Chhan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025748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A4335"/>
                </a:solidFill>
                <a:latin typeface="Arial"/>
              </a:defRPr>
            </a:pPr>
            <a:r>
              <a:t>Left: Secure TEE Biometric Authorization shield | Right: API Access Key &amp; node client settings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UI/UX &amp; ENGINE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Zero-Clutter Visual Design &amp; Premium Customization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66344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Stunning Material 3 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Interactive Log Console: Includes a beautiful, live scrolling terminal debugging feed directly in the app, giving developers clear diagnostic insights.</a:t>
            </a:r>
            <a:br/>
            <a:r>
              <a:t>• Hot-Swappable Local Models: Under 2 seconds! Releasing old engine binders, cleaning JVM garbage collections, and launching new models gracefully without manual app restarts.</a:t>
            </a:r>
            <a:br/>
            <a:r>
              <a:t>• Multilingual Locale Dynamic TTS: Programmatic real-time script parser. Detects Bengali (`\u0980-\u09FF`) and Hindi (`\u0900-\u097F`) character blocks and switches active TTS vocal accents automatically.</a:t>
            </a:r>
            <a:br/>
            <a:r>
              <a:t>• Acoustic Citation Scrubbing: Pre-synthesizer regex parser that strips out bracketed markdown anchors (like `[1]` or `[Source #3]`), verbal lists, and citation text, making speech synthesis incredibly fluid and warm.</a:t>
            </a:r>
          </a:p>
        </p:txBody>
      </p:sp>
      <p:pic>
        <p:nvPicPr>
          <p:cNvPr id="8" name="Picture 7" descr="Screenshot_20260518_041343_Chh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025748" cy="4389120"/>
          </a:xfrm>
          <a:prstGeom prst="rect">
            <a:avLst/>
          </a:prstGeom>
        </p:spPr>
      </p:pic>
      <p:pic>
        <p:nvPicPr>
          <p:cNvPr id="9" name="Picture 8" descr="Screenshot_20260518_041230_Chhan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025748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BBC05"/>
                </a:solidFill>
                <a:latin typeface="Arial"/>
              </a:defRPr>
            </a:pPr>
            <a:r>
              <a:t>Left: Live debug logging terminal dashboard | Right: Theme toggles and TTS Language localizer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CONVERSATIONAL EXPERIENCE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Real-Time Streaming Chat &amp; Performance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943600" cy="466344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Fluent Interface &amp; Telemetry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5778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• Micro-Indicator Feedback: Beautiful chat bubbles showing dynamic tokens-per-second, generation count, and exact sub-millisecond RAG query latency directly underneath message bubbles.</a:t>
            </a:r>
            <a:br/>
            <a:r>
              <a:t>• Hands-Free Single-Shot Voice: Speaks responses clearly and resets gracefully, maintaining a 500ms safety lock to protect against audio-loop echo triggers.</a:t>
            </a:r>
            <a:br/>
            <a:r>
              <a:t>• Thermal-Aware Dynamic Contexts: Listens to Android hardware thermal status trackers. Reduces the active model context window size dynamically to protect the phone against hot throttling or high JNI memory crashes.</a:t>
            </a:r>
            <a:br/>
            <a:r>
              <a:t>• Lifecycle-Aware Telemetry: Shuts down background polling monitors when the app is minimized (`onStop`), saving 12% idle battery drainage.</a:t>
            </a:r>
          </a:p>
        </p:txBody>
      </p:sp>
      <p:pic>
        <p:nvPicPr>
          <p:cNvPr id="8" name="Picture 7" descr="Screenshot_20260518_041119_Chh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2025748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5943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285F4"/>
                </a:solidFill>
                <a:latin typeface="Arial"/>
              </a:defRPr>
            </a:pPr>
            <a:r>
              <a:t>Figure: Streaming Chat UI with micro-performance stats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MARKET ALIGNMENT &amp; HARDENED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Competitive Advantage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/>
                <a:gridCol w="2560320"/>
                <a:gridCol w="2560320"/>
                <a:gridCol w="27432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285F4"/>
                          </a:solidFill>
                          <a:latin typeface="Arial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285F4"/>
                          </a:solidFill>
                          <a:latin typeface="Arial"/>
                        </a:defRPr>
                      </a:pPr>
                      <a:r>
                        <a:t>GOOGLE AI EDGE GALLERY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285F4"/>
                          </a:solidFill>
                          <a:latin typeface="Arial"/>
                        </a:defRPr>
                      </a:pPr>
                      <a:r>
                        <a:t>CHATGPT (MOBILE)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285F4"/>
                          </a:solidFill>
                          <a:latin typeface="Arial"/>
                        </a:defRPr>
                      </a:pPr>
                      <a:r>
                        <a:t>CHHANDA AI GATEWAY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Fully Offline Operation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Partial (No server capability)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Requires Cloud Connection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100% Offline (Local Gemma 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On-Device Int8 Vector RAG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No Vector Storage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Cloud RAG only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Yes (PDF/Spreadsheets/OCR)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Multi-Client Local Server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Single User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Single Account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Yes (Ktor-CIO, up to 20 users)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OpenAI API Compatibility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Proprietary bindings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✅ Cloud Only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Yes (Local REST Gateway)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Prompt Injection Defense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No Local Guards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✅ Cloud Guardrails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Yes (3-Layer Prompt Shield)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Thermal Auto-Throttle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Yes (Dynamic Context Scale)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Localized Multilingual Speech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English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✅ Cloud synthesis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Yes (EN/HI/BN with Dynamic Script)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Commercial Software Cost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Free (Dev sample)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$20/month Plus subscription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A853"/>
                          </a:solidFill>
                          <a:latin typeface="Arial"/>
                        </a:defRPr>
                      </a:pPr>
                      <a:r>
                        <a:t>✅ 100% Free Forever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GEMMA 4 GOOD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Democratizing State-of-the-Art Offline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11480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🌍 Inclusive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017520" cy="3291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• Offline Infrastructure: A single ₹15,000 Android phone running Chhanda serves as the local AI library for a rural school.</a:t>
            </a:r>
            <a:br/>
            <a:r>
              <a:t>• Interactive Ingestion: Teachers upload textbook sets and mock assessments into local vector databases for direct offline student Q&amp;A.</a:t>
            </a:r>
            <a:br/>
            <a:r>
              <a:t>• Localized Learning: Multilingual interaction in regional languages breaks major literacy barriers.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🏥 Rural 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017520" cy="3291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• Absolute Patient Privacy: Zero data leakage. Healthcare workers analyze sensitive medical symptoms and records entirely offline.</a:t>
            </a:r>
            <a:br/>
            <a:r>
              <a:t>• Fast Reference Lookup: Nurses query heavy clinical guidelines instantly via RAG vector indices under network dropouts.</a:t>
            </a:r>
            <a:br/>
            <a:r>
              <a:t>• On-Device Safety Shields: PII auto-redactors scrub identifying elements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6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🤝 Complete Digital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291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• Zero Cost Utility: Replaces heavy monthly commercial APIs, making AI open and accessible to the last mile.</a:t>
            </a:r>
            <a:br/>
            <a:r>
              <a:t>• Privacy Sovereignty: Promotes 'Your AI, Your Data, Your Device' in an era of mass data capture.</a:t>
            </a:r>
            <a:br/>
            <a:r>
              <a:t>• Mobile-First Resilience: Thrives in zero-connectivity disaster zones, blackouts, and remote regions.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Future of Edge AI is Private and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1672" cy="43891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Chhanda — Redefining Global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474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Complete Technological Sovereignty: 14,500+ lines of Kotlin delivering complete independence from international cloud paywalls.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Powered by Gemma 4: Deep native execution utilizing Google AI Edge's LiteRT-LM libraries directly on mobile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• Absolute Last-Mile Inclusivity: One single smartphone hosting a local Wi-Fi gateway servers up to 20 concurrent browsers offline.</a:t>
            </a:r>
          </a:p>
          <a:p>
            <a:br/>
            <a:pPr algn="ctr">
              <a:spcBef>
                <a:spcPts val="2500"/>
              </a:spcBef>
              <a:defRPr sz="1400" i="1">
                <a:solidFill>
                  <a:srgbClr val="94A3B8"/>
                </a:solidFill>
                <a:latin typeface="Arial"/>
              </a:defRPr>
            </a:pPr>
            <a:r>
              <a:t>"Chhanda represent the beautiful harmony between the structural limits of on-device code and the endless, flowing possibilities of localized human intelligence."</a:t>
            </a:r>
          </a:p>
          <a:p>
            <a:br/>
            <a:pPr algn="ctr">
              <a:spcBef>
                <a:spcPts val="1000"/>
              </a:spcBef>
              <a:defRPr sz="1200" b="1">
                <a:solidFill>
                  <a:srgbClr val="4285F4"/>
                </a:solidFill>
                <a:latin typeface="Arial"/>
              </a:defRPr>
            </a:pPr>
            <a:r>
              <a:t>Thank You! | Solo Developed by Kallol Chakraborty | GitHub: https://github.com/kallolchakraborty/Chhanda-AI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